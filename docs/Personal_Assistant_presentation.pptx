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fcf0702c-2525-19f7-e8a4-824c9a2cb34b}">
          <p14:sldIdLst>
            <p14:sldId id="256"/>
            <p14:sldId id="257"/>
            <p14:sldId id="258"/>
          </p14:sldIdLst>
        </p14:section>
        <p14:section name="Як влаштовано" id="{901cd590-ba48-c478-84f6-0caccbd25db5}">
          <p14:sldIdLst>
            <p14:sldId id="259"/>
            <p14:sldId id="260"/>
          </p14:sldIdLst>
        </p14:section>
        <p14:section name="Можливості" id="{4648f6d8-2db4-a5a8-2539-15e7610ec838}">
          <p14:sldIdLst>
            <p14:sldId id="261"/>
            <p14:sldId id="262"/>
            <p14:sldId id="263"/>
            <p14:sldId id="264"/>
            <p14:sldId id="265"/>
          </p14:sldIdLst>
        </p14:section>
        <p14:section name="Якість і висновки" id="{04f2484f-ad73-8028-3f01-0ed02990daf0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D6E8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D6E88"/>
                </a:solidFill>
                <a:latin typeface="+mn-lt"/>
              </a:rPr>
              <a:t>Кількість тестів за модулями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Тести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E17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Контакти</c:v>
                  </c:pt>
                  <c:pt idx="1">
                    <c:v>Задачі</c:v>
                  </c:pt>
                  <c:pt idx="2">
                    <c:v>Нотатки</c:v>
                  </c:pt>
                  <c:pt idx="3">
                    <c:v>CLI</c:v>
                  </c:pt>
                  <c:pt idx="4">
                    <c:v>Файли</c:v>
                  </c:pt>
                  <c:pt idx="5">
                    <c:v>Ядро (core)</c:v>
                  </c:pt>
                  <c:pt idx="6">
                    <c:v>Курси валют</c:v>
                  </c:pt>
                  <c:pt idx="7">
                    <c:v>Контекст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210</c:v>
                </c:pt>
                <c:pt idx="1">
                  <c:v>86</c:v>
                </c:pt>
                <c:pt idx="2">
                  <c:v>83</c:v>
                </c:pt>
                <c:pt idx="3">
                  <c:v>77</c:v>
                </c:pt>
                <c:pt idx="4">
                  <c:v>72</c:v>
                </c:pt>
                <c:pt idx="5">
                  <c:v>68</c:v>
                </c:pt>
                <c:pt idx="6">
                  <c:v>34</c:v>
                </c:pt>
                <c:pt idx="7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E17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E4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курсового проєкту — консольний персональний помічник на Python. Це REPL-застосунок: користувач вводить команди українською логікою, а помічник веде контакти, нотатки, задачі, аналізує теки з файлами та звертається до зовнішніх сервісів — погоди і курсів НБУ.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Застосунок складається з шести предметних модулів. Кожен модуль — окрема «фіча» зі своїми моделями, бізнес-логікою та командами. Погода і курси валют працюють через відкриті API без ключів.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Кілька цифр про масштаб: 52 команди, 640 автоматичних тестів і близько 4 900 рядків коду. Код перевіряється лінтером ruff і статичним аналізатором mypy у суворому режимі.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Архітектура трирівнева. Нижній шар core не знає про предметну область. Середній шар — фічі: кожна містить models.py, service.py і commands.py. Верхній шар cli — цикл введення команд. Фічі не імпортують одна одну і реєструють свої команди самі, тому додати чи прибрати модуль — це один рядок у bootstrap.py.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Покажемо, що відбувається з однією командою. Рядок розбивається на аргументи з урахуванням лапок, реєстр шукає найдовшу назву команди, перевіряє кількість аргументів і викликає обробник. Обробник не друкує, а повертає рядок — тому кожну команду легко тестувати. Зверніть увагу: номер телефону автоматично нормалізовано до формату +380.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Найбільший модуль — контакти. Номери телефонів приводяться до єдиного міжнародного формату, email перевіряється не лише на формат, а й на заборонені домени. Команда birthdays показує найближчих іменинників. Контакти можна експортувати в CSV, який Excel відкриває з кирилицею, та імпортувати назад з трьома режимами злиття.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Нотатки мають теги, які нормалізуються, тому різне написання одного тегу не створює дублікатів. Задачі мають статуси і дедлайни, а команда overdue показує прострочені. Будь-який запис можна знайти за частиною назви або за коротким ідентифікатором.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Модуль файлів аналізує теку: показує, як розклалися б файли за категоріями, як виглядали б імена після транслітерації, і знаходить однакові файли за хешем SHA-256. Головне правило — модуль нічого не змінює на диску, це гарантовано тестами, які порівнюють знімок теки до і після.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модулі працюють з інтернетом. Погода — через безкоштовний сервіс Open-Meteo: спершу знаходимо координати міста, потім поточну погоду. Курси валют — через відкритий API Національного банку: можна подивитися курси на сьогодні або на дату і перерахувати суму між будь-якими валютами через гривню. Суми рахуються в Decimal, щоб не було похибок округлення.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Інтерфейс побудований на prompt_toolkit. Tab доповнює не лише команди, а й аргументи: імена контактів, теги, шляхи. При помилці в назві команди помічник пропонує схожі варіанти. Нижній рядок показує, яку команду ви набираєте і який аргумент очікується зараз.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Проєкт покритий 640 автоматичними тестами. Найбільше — для контактів, бо там найскладніша валідація та імпорт. Тести не ходять в інтернет: зовнішні сервіси підміняються фейковими відповідями. Перед кожним комітом код проходить ruff і mypy у суворому режимі.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Підсумок: створено робочий консольний помічник із шістьма модулями, модульною архітектурою та повним набором тестів. Напрями розвитку — AI-функції на базі Claude API (для них уже є налаштування ANTHROPIC_API_KEY), застосування планів сортування файлів і розширення зовнішніх сервісів. Дякуємо за увагу, готові відповісти на запитання.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57607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86200"/>
            <a:ext cx="5394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B9C6D8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Персональний помічник · курсовий проєкт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КУРСОВИЙ ПРОЄКТ · PYTHON 3.12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4884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Персональний помічник</a:t>
            </a:r>
            <a:endParaRPr lang="en-US" sz="5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8862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9C6D8"/>
                </a:solidFill>
              </a:rPr>
              <a:t>Консольний застосунок для контактів, нотаток, задач, файлів, погоди та курсів валют</a:t>
            </a:r>
            <a:endParaRPr lang="en-US" sz="1800" dirty="0"/>
          </a:p>
        </p:txBody>
      </p:sp>
      <p:pic>
        <p:nvPicPr>
          <p:cNvPr id="5" name="Hero terminal" descr="Вікно терміналу з довідкою застосунк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471093"/>
            <a:ext cx="5669280" cy="39158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Що вміє помічник</a:t>
            </a:r>
            <a:endParaRPr lang="en-US" sz="3400" dirty="0"/>
          </a:p>
        </p:txBody>
      </p:sp>
      <p:sp>
        <p:nvSpPr>
          <p:cNvPr id="3" name="Feature card 1"/>
          <p:cNvSpPr/>
          <p:nvPr/>
        </p:nvSpPr>
        <p:spPr>
          <a:xfrm>
            <a:off x="548640" y="1554480"/>
            <a:ext cx="352044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4" name="Feature 1 tile"/>
          <p:cNvSpPr/>
          <p:nvPr/>
        </p:nvSpPr>
        <p:spPr>
          <a:xfrm>
            <a:off x="868680" y="18745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D7F4F1"/>
          </a:solidFill>
          <a:ln/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517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Контакти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0175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Телефони, email, адреси, дні народження, обрані, імпорт і експорт CSV/JSON</a:t>
            </a:r>
            <a:endParaRPr lang="en-US" sz="1400" dirty="0"/>
          </a:p>
        </p:txBody>
      </p:sp>
      <p:sp>
        <p:nvSpPr>
          <p:cNvPr id="8" name="Feature card 2"/>
          <p:cNvSpPr/>
          <p:nvPr/>
        </p:nvSpPr>
        <p:spPr>
          <a:xfrm>
            <a:off x="4325112" y="1554480"/>
            <a:ext cx="352044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9" name="Feature 2 tile"/>
          <p:cNvSpPr/>
          <p:nvPr/>
        </p:nvSpPr>
        <p:spPr>
          <a:xfrm>
            <a:off x="4645152" y="18745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D7F4F1"/>
          </a:solidFill>
          <a:ln/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771" y="20281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45152" y="26517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Нотатки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645152" y="30175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Заголовок, текст і теги; пошук і групування за тегами</a:t>
            </a:r>
            <a:endParaRPr lang="en-US" sz="1400" dirty="0"/>
          </a:p>
        </p:txBody>
      </p:sp>
      <p:sp>
        <p:nvSpPr>
          <p:cNvPr id="13" name="Feature card 3"/>
          <p:cNvSpPr/>
          <p:nvPr/>
        </p:nvSpPr>
        <p:spPr>
          <a:xfrm>
            <a:off x="8101584" y="1554480"/>
            <a:ext cx="352044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14" name="Feature 3 tile"/>
          <p:cNvSpPr/>
          <p:nvPr/>
        </p:nvSpPr>
        <p:spPr>
          <a:xfrm>
            <a:off x="8421624" y="18745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D7F4F1"/>
          </a:solidFill>
          <a:ln/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243" y="202813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21624" y="26517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Задачі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421624" y="30175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Статуси, дедлайни, перелік прострочених задач</a:t>
            </a:r>
            <a:endParaRPr lang="en-US" sz="1400" dirty="0"/>
          </a:p>
        </p:txBody>
      </p:sp>
      <p:sp>
        <p:nvSpPr>
          <p:cNvPr id="18" name="Feature card 4"/>
          <p:cNvSpPr/>
          <p:nvPr/>
        </p:nvSpPr>
        <p:spPr>
          <a:xfrm>
            <a:off x="548640" y="3977640"/>
            <a:ext cx="352044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19" name="Feature 4 tile"/>
          <p:cNvSpPr/>
          <p:nvPr/>
        </p:nvSpPr>
        <p:spPr>
          <a:xfrm>
            <a:off x="868680" y="42976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D7F4F1"/>
          </a:solidFill>
          <a:ln/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99" y="445129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68680" y="5074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Файли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868680" y="54406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Сортування за типами, транслітерація імен, пошук дублікатів</a:t>
            </a:r>
            <a:endParaRPr lang="en-US" sz="1400" dirty="0"/>
          </a:p>
        </p:txBody>
      </p:sp>
      <p:sp>
        <p:nvSpPr>
          <p:cNvPr id="23" name="Feature card 5"/>
          <p:cNvSpPr/>
          <p:nvPr/>
        </p:nvSpPr>
        <p:spPr>
          <a:xfrm>
            <a:off x="4325112" y="3977640"/>
            <a:ext cx="352044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24" name="Feature 5 tile"/>
          <p:cNvSpPr/>
          <p:nvPr/>
        </p:nvSpPr>
        <p:spPr>
          <a:xfrm>
            <a:off x="4645152" y="42976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D7F4F1"/>
          </a:solidFill>
          <a:ln/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8771" y="4451299"/>
            <a:ext cx="332842" cy="33284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45152" y="5074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Погода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4645152" y="54406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Поточна погода в будь-якому місті через Open-Meteo</a:t>
            </a:r>
            <a:endParaRPr lang="en-US" sz="1400" dirty="0"/>
          </a:p>
        </p:txBody>
      </p:sp>
      <p:sp>
        <p:nvSpPr>
          <p:cNvPr id="28" name="Feature card 6"/>
          <p:cNvSpPr/>
          <p:nvPr/>
        </p:nvSpPr>
        <p:spPr>
          <a:xfrm>
            <a:off x="8101584" y="3977640"/>
            <a:ext cx="352044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29" name="Feature 6 tile"/>
          <p:cNvSpPr/>
          <p:nvPr/>
        </p:nvSpPr>
        <p:spPr>
          <a:xfrm>
            <a:off x="8421624" y="42976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D7F4F1"/>
          </a:solidFill>
          <a:ln/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5243" y="4451299"/>
            <a:ext cx="332842" cy="33284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421624" y="5074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Курси валют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8421624" y="54406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Офіційні курси НБУ та конвертація сум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Проєкт у цифрах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548640" y="1600200"/>
            <a:ext cx="260604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команди CLI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зокрема аліаси українською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3364992" y="1600200"/>
            <a:ext cx="260604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39312" y="18288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639312" y="2880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автотестів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32918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pytest, без доступу до мережі</a:t>
            </a:r>
            <a:endParaRPr lang="en-US" sz="1400" dirty="0"/>
          </a:p>
        </p:txBody>
      </p:sp>
      <p:sp>
        <p:nvSpPr>
          <p:cNvPr id="11" name="Stat card 3"/>
          <p:cNvSpPr/>
          <p:nvPr/>
        </p:nvSpPr>
        <p:spPr>
          <a:xfrm>
            <a:off x="6181344" y="1600200"/>
            <a:ext cx="260604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55664" y="18288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4 900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455664" y="2880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рядків коду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32918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приблизно, у теці src/</a:t>
            </a:r>
            <a:endParaRPr lang="en-US" sz="1400" dirty="0"/>
          </a:p>
        </p:txBody>
      </p:sp>
      <p:sp>
        <p:nvSpPr>
          <p:cNvPr id="15" name="Stat card 4"/>
          <p:cNvSpPr/>
          <p:nvPr/>
        </p:nvSpPr>
        <p:spPr>
          <a:xfrm>
            <a:off x="8997696" y="1600200"/>
            <a:ext cx="260604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72016" y="18288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9272016" y="2880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модулів-фіч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272016" y="32918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кожен — окремий вертикальний зріз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Технології</a:t>
            </a:r>
            <a:endParaRPr lang="en-US" sz="1700" dirty="0"/>
          </a:p>
        </p:txBody>
      </p:sp>
      <p:sp>
        <p:nvSpPr>
          <p:cNvPr id="20" name="Tech pill 1"/>
          <p:cNvSpPr/>
          <p:nvPr/>
        </p:nvSpPr>
        <p:spPr>
          <a:xfrm>
            <a:off x="548640" y="5029200"/>
            <a:ext cx="1461211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029200"/>
            <a:ext cx="14612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</a:t>
            </a:r>
            <a:endParaRPr lang="en-US" sz="1400" dirty="0"/>
          </a:p>
        </p:txBody>
      </p:sp>
      <p:sp>
        <p:nvSpPr>
          <p:cNvPr id="22" name="Tech pill 2"/>
          <p:cNvSpPr/>
          <p:nvPr/>
        </p:nvSpPr>
        <p:spPr>
          <a:xfrm>
            <a:off x="2174443" y="5029200"/>
            <a:ext cx="1137514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174443" y="5029200"/>
            <a:ext cx="11375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pydantic</a:t>
            </a:r>
            <a:endParaRPr lang="en-US" sz="1400" dirty="0"/>
          </a:p>
        </p:txBody>
      </p:sp>
      <p:sp>
        <p:nvSpPr>
          <p:cNvPr id="24" name="Tech pill 3"/>
          <p:cNvSpPr/>
          <p:nvPr/>
        </p:nvSpPr>
        <p:spPr>
          <a:xfrm>
            <a:off x="3476549" y="5029200"/>
            <a:ext cx="1784909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76549" y="5029200"/>
            <a:ext cx="1784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prompt_toolkit</a:t>
            </a:r>
            <a:endParaRPr lang="en-US" sz="1400" dirty="0"/>
          </a:p>
        </p:txBody>
      </p:sp>
      <p:sp>
        <p:nvSpPr>
          <p:cNvPr id="26" name="Tech pill 4"/>
          <p:cNvSpPr/>
          <p:nvPr/>
        </p:nvSpPr>
        <p:spPr>
          <a:xfrm>
            <a:off x="5426050" y="5029200"/>
            <a:ext cx="167701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26050" y="5029200"/>
            <a:ext cx="16770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python-dotenv</a:t>
            </a:r>
            <a:endParaRPr lang="en-US" sz="1400" dirty="0"/>
          </a:p>
        </p:txBody>
      </p:sp>
      <p:sp>
        <p:nvSpPr>
          <p:cNvPr id="28" name="Tech pill 5"/>
          <p:cNvSpPr/>
          <p:nvPr/>
        </p:nvSpPr>
        <p:spPr>
          <a:xfrm>
            <a:off x="7267651" y="5029200"/>
            <a:ext cx="921715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267651" y="5029200"/>
            <a:ext cx="9217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</a:t>
            </a:r>
            <a:endParaRPr lang="en-US" sz="1400" dirty="0"/>
          </a:p>
        </p:txBody>
      </p:sp>
      <p:sp>
        <p:nvSpPr>
          <p:cNvPr id="30" name="Tech pill 6"/>
          <p:cNvSpPr/>
          <p:nvPr/>
        </p:nvSpPr>
        <p:spPr>
          <a:xfrm>
            <a:off x="8353958" y="5029200"/>
            <a:ext cx="705917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53958" y="5029200"/>
            <a:ext cx="7059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ruff</a:t>
            </a:r>
            <a:endParaRPr lang="en-US" sz="1400" dirty="0"/>
          </a:p>
        </p:txBody>
      </p:sp>
      <p:sp>
        <p:nvSpPr>
          <p:cNvPr id="32" name="Tech pill 7"/>
          <p:cNvSpPr/>
          <p:nvPr/>
        </p:nvSpPr>
        <p:spPr>
          <a:xfrm>
            <a:off x="9224467" y="5029200"/>
            <a:ext cx="167701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224467" y="5029200"/>
            <a:ext cx="16770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mypy --strict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Архітектура: три шари</a:t>
            </a:r>
            <a:endParaRPr lang="en-US" sz="3400" dirty="0"/>
          </a:p>
        </p:txBody>
      </p:sp>
      <p:sp>
        <p:nvSpPr>
          <p:cNvPr id="3" name="Layer cli"/>
          <p:cNvSpPr/>
          <p:nvPr/>
        </p:nvSpPr>
        <p:spPr>
          <a:xfrm>
            <a:off x="548640" y="1508760"/>
            <a:ext cx="7589520" cy="960120"/>
          </a:xfrm>
          <a:prstGeom prst="roundRect">
            <a:avLst>
              <a:gd name="adj" fmla="val 9524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18488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cli/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REPL · реєстр команд · довідка · автодоповнення · підказки</a:t>
            </a:r>
            <a:endParaRPr lang="en-US" sz="1500" dirty="0"/>
          </a:p>
        </p:txBody>
      </p:sp>
      <p:sp>
        <p:nvSpPr>
          <p:cNvPr id="5" name="Layer features"/>
          <p:cNvSpPr/>
          <p:nvPr/>
        </p:nvSpPr>
        <p:spPr>
          <a:xfrm>
            <a:off x="548640" y="2743200"/>
            <a:ext cx="75895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852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features/</a:t>
            </a:r>
            <a:endParaRPr lang="en-US" sz="1800" dirty="0"/>
          </a:p>
        </p:txBody>
      </p:sp>
      <p:sp>
        <p:nvSpPr>
          <p:cNvPr id="7" name="Module contacts"/>
          <p:cNvSpPr/>
          <p:nvPr/>
        </p:nvSpPr>
        <p:spPr>
          <a:xfrm>
            <a:off x="822960" y="3291840"/>
            <a:ext cx="10591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337560"/>
            <a:ext cx="9677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models · service · commands</a:t>
            </a:r>
            <a:endParaRPr lang="en-US" sz="1300" dirty="0"/>
          </a:p>
        </p:txBody>
      </p:sp>
      <p:sp>
        <p:nvSpPr>
          <p:cNvPr id="9" name="Module notes"/>
          <p:cNvSpPr/>
          <p:nvPr/>
        </p:nvSpPr>
        <p:spPr>
          <a:xfrm>
            <a:off x="2019300" y="3291840"/>
            <a:ext cx="10591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65020" y="3337560"/>
            <a:ext cx="9677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models · service · commands</a:t>
            </a:r>
            <a:endParaRPr lang="en-US" sz="1300" dirty="0"/>
          </a:p>
        </p:txBody>
      </p:sp>
      <p:sp>
        <p:nvSpPr>
          <p:cNvPr id="11" name="Module tasks"/>
          <p:cNvSpPr/>
          <p:nvPr/>
        </p:nvSpPr>
        <p:spPr>
          <a:xfrm>
            <a:off x="3215640" y="3291840"/>
            <a:ext cx="10591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61360" y="3337560"/>
            <a:ext cx="9677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models · service · commands</a:t>
            </a:r>
            <a:endParaRPr lang="en-US" sz="1300" dirty="0"/>
          </a:p>
        </p:txBody>
      </p:sp>
      <p:sp>
        <p:nvSpPr>
          <p:cNvPr id="13" name="Module files"/>
          <p:cNvSpPr/>
          <p:nvPr/>
        </p:nvSpPr>
        <p:spPr>
          <a:xfrm>
            <a:off x="4411980" y="3291840"/>
            <a:ext cx="10591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57700" y="3337560"/>
            <a:ext cx="9677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models · service · commands</a:t>
            </a:r>
            <a:endParaRPr lang="en-US" sz="1300" dirty="0"/>
          </a:p>
        </p:txBody>
      </p:sp>
      <p:sp>
        <p:nvSpPr>
          <p:cNvPr id="15" name="Module weather"/>
          <p:cNvSpPr/>
          <p:nvPr/>
        </p:nvSpPr>
        <p:spPr>
          <a:xfrm>
            <a:off x="5608320" y="3291840"/>
            <a:ext cx="10591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54040" y="3337560"/>
            <a:ext cx="9677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models · service · commands</a:t>
            </a:r>
            <a:endParaRPr lang="en-US" sz="1300" dirty="0"/>
          </a:p>
        </p:txBody>
      </p:sp>
      <p:sp>
        <p:nvSpPr>
          <p:cNvPr id="17" name="Module currency"/>
          <p:cNvSpPr/>
          <p:nvPr/>
        </p:nvSpPr>
        <p:spPr>
          <a:xfrm>
            <a:off x="6804660" y="3291840"/>
            <a:ext cx="10591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0380" y="3337560"/>
            <a:ext cx="9677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models · service · commands</a:t>
            </a:r>
            <a:endParaRPr lang="en-US" sz="1300" dirty="0"/>
          </a:p>
        </p:txBody>
      </p:sp>
      <p:sp>
        <p:nvSpPr>
          <p:cNvPr id="19" name="Layer core"/>
          <p:cNvSpPr/>
          <p:nvPr/>
        </p:nvSpPr>
        <p:spPr>
          <a:xfrm>
            <a:off x="548640" y="4754880"/>
            <a:ext cx="7589520" cy="960120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864608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налаштування · помилки · JSON-сховище · репозиторій · дати · текст</a:t>
            </a:r>
            <a:endParaRPr lang="en-US" sz="1500" dirty="0"/>
          </a:p>
        </p:txBody>
      </p:sp>
      <p:sp>
        <p:nvSpPr>
          <p:cNvPr id="21" name="Arrow 1"/>
          <p:cNvSpPr/>
          <p:nvPr/>
        </p:nvSpPr>
        <p:spPr>
          <a:xfrm>
            <a:off x="4178808" y="2487168"/>
            <a:ext cx="329184" cy="237744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22" name="Arrow 2"/>
          <p:cNvSpPr/>
          <p:nvPr/>
        </p:nvSpPr>
        <p:spPr>
          <a:xfrm>
            <a:off x="4178808" y="4498848"/>
            <a:ext cx="329184" cy="237744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23" name="Arch note 1 tile"/>
          <p:cNvSpPr/>
          <p:nvPr/>
        </p:nvSpPr>
        <p:spPr>
          <a:xfrm>
            <a:off x="8549640" y="1554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7F4F1"/>
          </a:solidFill>
          <a:ln/>
        </p:spPr>
      </p:sp>
      <p:pic>
        <p:nvPicPr>
          <p:cNvPr id="24" name="Arch not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5703" y="1690543"/>
            <a:ext cx="294803" cy="294803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9326880" y="15361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Вертикальні зрізи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9326880" y="186537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Кожна фіча — модель, сервіс і команди в одній теці</a:t>
            </a:r>
            <a:endParaRPr lang="en-US" sz="1400" dirty="0"/>
          </a:p>
        </p:txBody>
      </p:sp>
      <p:sp>
        <p:nvSpPr>
          <p:cNvPr id="27" name="Arch note 2 tile"/>
          <p:cNvSpPr/>
          <p:nvPr/>
        </p:nvSpPr>
        <p:spPr>
          <a:xfrm>
            <a:off x="8549640" y="29718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7F4F1"/>
          </a:solidFill>
          <a:ln/>
        </p:spPr>
      </p:sp>
      <p:pic>
        <p:nvPicPr>
          <p:cNvPr id="28" name="Arch not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5703" y="3107863"/>
            <a:ext cx="294803" cy="294803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9326880" y="295351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Фічі незалежні</a:t>
            </a:r>
            <a:endParaRPr lang="en-US" sz="1700" dirty="0"/>
          </a:p>
        </p:txBody>
      </p:sp>
      <p:sp>
        <p:nvSpPr>
          <p:cNvPr id="30" name="Text 26"/>
          <p:cNvSpPr txBox="1"/>
          <p:nvPr/>
        </p:nvSpPr>
        <p:spPr>
          <a:xfrm>
            <a:off x="9326880" y="328269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Будь-яку можна винести в окремий репозиторій</a:t>
            </a:r>
            <a:endParaRPr lang="en-US" sz="1400" dirty="0"/>
          </a:p>
        </p:txBody>
      </p:sp>
      <p:sp>
        <p:nvSpPr>
          <p:cNvPr id="31" name="Arch note 3 tile"/>
          <p:cNvSpPr/>
          <p:nvPr/>
        </p:nvSpPr>
        <p:spPr>
          <a:xfrm>
            <a:off x="8549640" y="43891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7F4F1"/>
          </a:solidFill>
          <a:ln/>
        </p:spPr>
      </p:sp>
      <p:pic>
        <p:nvPicPr>
          <p:cNvPr id="32" name="Arch not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5703" y="4525183"/>
            <a:ext cx="294803" cy="294803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9326880" y="43708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Один реєстр команд</a:t>
            </a:r>
            <a:endParaRPr lang="en-US" sz="1700" dirty="0"/>
          </a:p>
        </p:txBody>
      </p:sp>
      <p:sp>
        <p:nvSpPr>
          <p:cNvPr id="34" name="Text 29"/>
          <p:cNvSpPr txBox="1"/>
          <p:nvPr/>
        </p:nvSpPr>
        <p:spPr>
          <a:xfrm>
            <a:off x="9326880" y="470001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З нього будуються довідка, Tab і підказки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Шлях однієї команди</a:t>
            </a:r>
            <a:endParaRPr lang="en-US" sz="3400" dirty="0"/>
          </a:p>
        </p:txBody>
      </p:sp>
      <p:sp>
        <p:nvSpPr>
          <p:cNvPr id="3" name="Example command"/>
          <p:cNvSpPr/>
          <p:nvPr/>
        </p:nvSpPr>
        <p:spPr>
          <a:xfrm>
            <a:off x="548640" y="1508760"/>
            <a:ext cx="11064240" cy="777240"/>
          </a:xfrm>
          <a:prstGeom prst="roundRect">
            <a:avLst>
              <a:gd name="adj" fmla="val 11765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pa&gt; 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contact "Іван Петренко" 0671234567</a:t>
            </a:r>
            <a:endParaRPr lang="en-US" sz="2000" dirty="0"/>
          </a:p>
        </p:txBody>
      </p:sp>
      <p:sp>
        <p:nvSpPr>
          <p:cNvPr id="5" name="Step dot 1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Step arrow 1"/>
          <p:cNvSpPr/>
          <p:nvPr/>
        </p:nvSpPr>
        <p:spPr>
          <a:xfrm>
            <a:off x="1325880" y="3063240"/>
            <a:ext cx="13487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54864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Розбір рядка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tokenize() поважає лапки: «Іван Петренко» — один аргумент</a:t>
            </a:r>
            <a:endParaRPr lang="en-US" sz="1400" dirty="0"/>
          </a:p>
        </p:txBody>
      </p:sp>
      <p:sp>
        <p:nvSpPr>
          <p:cNvPr id="10" name="Step dot 2"/>
          <p:cNvSpPr/>
          <p:nvPr/>
        </p:nvSpPr>
        <p:spPr>
          <a:xfrm>
            <a:off x="2811780" y="2743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117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Step arrow 2"/>
          <p:cNvSpPr/>
          <p:nvPr/>
        </p:nvSpPr>
        <p:spPr>
          <a:xfrm>
            <a:off x="3589020" y="3063240"/>
            <a:ext cx="13487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81178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Пошук команди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81178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Registry.resolve() бере найдовший збіг: add contact, а не add</a:t>
            </a:r>
            <a:endParaRPr lang="en-US" sz="1400" dirty="0"/>
          </a:p>
        </p:txBody>
      </p:sp>
      <p:sp>
        <p:nvSpPr>
          <p:cNvPr id="15" name="Step dot 3"/>
          <p:cNvSpPr/>
          <p:nvPr/>
        </p:nvSpPr>
        <p:spPr>
          <a:xfrm>
            <a:off x="5074920" y="2743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7492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Step arrow 3"/>
          <p:cNvSpPr/>
          <p:nvPr/>
        </p:nvSpPr>
        <p:spPr>
          <a:xfrm>
            <a:off x="5852160" y="3063240"/>
            <a:ext cx="13487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07492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Перевірка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Замало аргументів — підказка з тієї ж сигнатури, що й у help</a:t>
            </a:r>
            <a:endParaRPr lang="en-US" sz="1400" dirty="0"/>
          </a:p>
        </p:txBody>
      </p:sp>
      <p:sp>
        <p:nvSpPr>
          <p:cNvPr id="20" name="Step dot 4"/>
          <p:cNvSpPr/>
          <p:nvPr/>
        </p:nvSpPr>
        <p:spPr>
          <a:xfrm>
            <a:off x="7338060" y="2743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3806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Step arrow 4"/>
          <p:cNvSpPr/>
          <p:nvPr/>
        </p:nvSpPr>
        <p:spPr>
          <a:xfrm>
            <a:off x="8115300" y="3063240"/>
            <a:ext cx="13487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33806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Обробник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33806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handler(ctx, args) працює через сервіс і репозиторій, повертає рядок</a:t>
            </a:r>
            <a:endParaRPr lang="en-US" sz="1400" dirty="0"/>
          </a:p>
        </p:txBody>
      </p:sp>
      <p:sp>
        <p:nvSpPr>
          <p:cNvPr id="25" name="Step dot 5"/>
          <p:cNvSpPr/>
          <p:nvPr/>
        </p:nvSpPr>
        <p:spPr>
          <a:xfrm>
            <a:off x="9601200" y="2743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012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Відповідь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Друкує лише cli/app.py; помилки показуються як «Помилка: …»</a:t>
            </a:r>
            <a:endParaRPr lang="en-US" sz="1400" dirty="0"/>
          </a:p>
        </p:txBody>
      </p:sp>
      <p:sp>
        <p:nvSpPr>
          <p:cNvPr id="29" name="Result line"/>
          <p:cNvSpPr/>
          <p:nvPr/>
        </p:nvSpPr>
        <p:spPr>
          <a:xfrm>
            <a:off x="548640" y="5440680"/>
            <a:ext cx="1106424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8680" y="5440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Результат:  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Контакт 'Іван Петренко' створено з номером +380671234567.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Контакти: адресна книга з перевірками</a:t>
            </a:r>
            <a:endParaRPr lang="en-US" sz="3400" dirty="0"/>
          </a:p>
        </p:txBody>
      </p:sp>
      <p:sp>
        <p:nvSpPr>
          <p:cNvPr id="3" name="Contacts row 1 tile"/>
          <p:cNvSpPr/>
          <p:nvPr/>
        </p:nvSpPr>
        <p:spPr>
          <a:xfrm>
            <a:off x="548640" y="1600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7F4F1"/>
          </a:solidFill>
          <a:ln/>
        </p:spPr>
      </p:sp>
      <p:pic>
        <p:nvPicPr>
          <p:cNvPr id="4" name="Contacts row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736263"/>
            <a:ext cx="294803" cy="294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58191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Нормалізація номерів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91109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0671234567, 067 123 45 67 → +380671234567</a:t>
            </a:r>
            <a:endParaRPr lang="en-US" sz="1400" dirty="0"/>
          </a:p>
        </p:txBody>
      </p:sp>
      <p:sp>
        <p:nvSpPr>
          <p:cNvPr id="7" name="Contacts row 2 tile"/>
          <p:cNvSpPr/>
          <p:nvPr/>
        </p:nvSpPr>
        <p:spPr>
          <a:xfrm>
            <a:off x="548640" y="26791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7F4F1"/>
          </a:solidFill>
          <a:ln/>
        </p:spPr>
      </p:sp>
      <p:pic>
        <p:nvPicPr>
          <p:cNvPr id="8" name="Contacts row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2815255"/>
            <a:ext cx="294803" cy="29480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66090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Перевірка email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99008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Формат і заборонені домени держав-агресорів</a:t>
            </a:r>
            <a:endParaRPr lang="en-US" sz="1400" dirty="0"/>
          </a:p>
        </p:txBody>
      </p:sp>
      <p:sp>
        <p:nvSpPr>
          <p:cNvPr id="11" name="Contacts row 3 tile"/>
          <p:cNvSpPr/>
          <p:nvPr/>
        </p:nvSpPr>
        <p:spPr>
          <a:xfrm>
            <a:off x="548640" y="3758184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7F4F1"/>
          </a:solidFill>
          <a:ln/>
        </p:spPr>
      </p:sp>
      <p:pic>
        <p:nvPicPr>
          <p:cNvPr id="12" name="Contacts row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3894247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73989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Дні народження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406908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Хто святкує найближчими днями, з урахуванням 29 лютого</a:t>
            </a:r>
            <a:endParaRPr lang="en-US" sz="1400" dirty="0"/>
          </a:p>
        </p:txBody>
      </p:sp>
      <p:sp>
        <p:nvSpPr>
          <p:cNvPr id="15" name="Contacts row 4 tile"/>
          <p:cNvSpPr/>
          <p:nvPr/>
        </p:nvSpPr>
        <p:spPr>
          <a:xfrm>
            <a:off x="548640" y="483717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7F4F1"/>
          </a:solidFill>
          <a:ln/>
        </p:spPr>
      </p:sp>
      <p:pic>
        <p:nvPicPr>
          <p:cNvPr id="16" name="Contacts row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4973239"/>
            <a:ext cx="294803" cy="29480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481888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Імпорт та експорт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514807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CSV і JSON; режими skip, replace, merge</a:t>
            </a:r>
            <a:endParaRPr lang="en-US" sz="1400" dirty="0"/>
          </a:p>
        </p:txBody>
      </p:sp>
      <p:pic>
        <p:nvPicPr>
          <p:cNvPr id="19" name="Contacts terminal" descr="Термінал: створення контакту, список і дні народження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485173"/>
            <a:ext cx="6355080" cy="457345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Нотатки та задачі</a:t>
            </a:r>
            <a:endParaRPr lang="en-US" sz="3400" dirty="0"/>
          </a:p>
        </p:txBody>
      </p:sp>
      <p:pic>
        <p:nvPicPr>
          <p:cNvPr id="3" name="Notes terminal" descr="Термінал: нотатка з тегом і задача з дедлайно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49205"/>
            <a:ext cx="6583680" cy="4445391"/>
          </a:xfrm>
          <a:prstGeom prst="rect">
            <a:avLst/>
          </a:prstGeom>
        </p:spPr>
      </p:pic>
      <p:sp>
        <p:nvSpPr>
          <p:cNvPr id="4" name="Notes row 1 tile"/>
          <p:cNvSpPr/>
          <p:nvPr/>
        </p:nvSpPr>
        <p:spPr>
          <a:xfrm>
            <a:off x="7223760" y="1600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7F4F1"/>
          </a:solidFill>
          <a:ln/>
        </p:spPr>
      </p:sp>
      <p:pic>
        <p:nvPicPr>
          <p:cNvPr id="5" name="Notes row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823" y="1736263"/>
            <a:ext cx="294803" cy="29480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001000" y="15819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Теги без дублікатів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8001000" y="19110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#Робочі Справи, robochi_spravy і #РОБОТА — не три різні теги</a:t>
            </a:r>
            <a:endParaRPr lang="en-US" sz="1400" dirty="0"/>
          </a:p>
        </p:txBody>
      </p:sp>
      <p:sp>
        <p:nvSpPr>
          <p:cNvPr id="8" name="Notes row 2 tile"/>
          <p:cNvSpPr/>
          <p:nvPr/>
        </p:nvSpPr>
        <p:spPr>
          <a:xfrm>
            <a:off x="7223760" y="26791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7F4F1"/>
          </a:solidFill>
          <a:ln/>
        </p:spPr>
      </p:sp>
      <p:pic>
        <p:nvPicPr>
          <p:cNvPr id="9" name="Notes row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823" y="2815255"/>
            <a:ext cx="294803" cy="29480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001000" y="26609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Пошук і групування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8001000" y="299008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За заголовком, текстом і тегами; sort notes групує за тегами</a:t>
            </a:r>
            <a:endParaRPr lang="en-US" sz="1400" dirty="0"/>
          </a:p>
        </p:txBody>
      </p:sp>
      <p:sp>
        <p:nvSpPr>
          <p:cNvPr id="12" name="Notes row 3 tile"/>
          <p:cNvSpPr/>
          <p:nvPr/>
        </p:nvSpPr>
        <p:spPr>
          <a:xfrm>
            <a:off x="7223760" y="3758184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7F4F1"/>
          </a:solidFill>
          <a:ln/>
        </p:spPr>
      </p:sp>
      <p:pic>
        <p:nvPicPr>
          <p:cNvPr id="13" name="Notes row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9823" y="3894247"/>
            <a:ext cx="294803" cy="29480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001000" y="37398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Статуси й дедлайни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8001000" y="40690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нова → в роботі → виконана; overdue показує прострочене</a:t>
            </a:r>
            <a:endParaRPr lang="en-US" sz="1400" dirty="0"/>
          </a:p>
        </p:txBody>
      </p:sp>
      <p:sp>
        <p:nvSpPr>
          <p:cNvPr id="16" name="Notes row 4 tile"/>
          <p:cNvSpPr/>
          <p:nvPr/>
        </p:nvSpPr>
        <p:spPr>
          <a:xfrm>
            <a:off x="7223760" y="483717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7F4F1"/>
          </a:solidFill>
          <a:ln/>
        </p:spPr>
      </p:sp>
      <p:pic>
        <p:nvPicPr>
          <p:cNvPr id="17" name="Notes row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9823" y="4973239"/>
            <a:ext cx="294803" cy="294803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001000" y="48188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Короткі ідентифікатори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8001000" y="51480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Запис можна вказати текстом або id: show note 6e480c61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Файли: порядок у теці без ризику</a:t>
            </a:r>
            <a:endParaRPr lang="en-US" sz="3400" dirty="0"/>
          </a:p>
        </p:txBody>
      </p:sp>
      <p:sp>
        <p:nvSpPr>
          <p:cNvPr id="3" name="Files row 1 tile"/>
          <p:cNvSpPr/>
          <p:nvPr/>
        </p:nvSpPr>
        <p:spPr>
          <a:xfrm>
            <a:off x="548640" y="1600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7F4F1"/>
          </a:solidFill>
          <a:ln/>
        </p:spPr>
      </p:sp>
      <p:pic>
        <p:nvPicPr>
          <p:cNvPr id="4" name="Files row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736263"/>
            <a:ext cx="294803" cy="294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58191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Сортування за типами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91109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images, documents, audio, videos — план розкладки</a:t>
            </a:r>
            <a:endParaRPr lang="en-US" sz="1400" dirty="0"/>
          </a:p>
        </p:txBody>
      </p:sp>
      <p:sp>
        <p:nvSpPr>
          <p:cNvPr id="7" name="Files row 2 tile"/>
          <p:cNvSpPr/>
          <p:nvPr/>
        </p:nvSpPr>
        <p:spPr>
          <a:xfrm>
            <a:off x="548640" y="26791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7F4F1"/>
          </a:solidFill>
          <a:ln/>
        </p:spPr>
      </p:sp>
      <p:pic>
        <p:nvPicPr>
          <p:cNvPr id="8" name="Files row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2815255"/>
            <a:ext cx="294803" cy="29480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66090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Транслітерація імен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99008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Ґудзик.JPEG → Gudzyk.jpeg; колізії отримують суфікс _2</a:t>
            </a:r>
            <a:endParaRPr lang="en-US" sz="1400" dirty="0"/>
          </a:p>
        </p:txBody>
      </p:sp>
      <p:sp>
        <p:nvSpPr>
          <p:cNvPr id="11" name="Files row 3 tile"/>
          <p:cNvSpPr/>
          <p:nvPr/>
        </p:nvSpPr>
        <p:spPr>
          <a:xfrm>
            <a:off x="548640" y="3758184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7F4F1"/>
          </a:solidFill>
          <a:ln/>
        </p:spPr>
      </p:sp>
      <p:pic>
        <p:nvPicPr>
          <p:cNvPr id="12" name="Files row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3894247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73989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Пошук дублікатів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406908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Порівняння вмісту за SHA-256, а не за назвою</a:t>
            </a:r>
            <a:endParaRPr lang="en-US" sz="1400" dirty="0"/>
          </a:p>
        </p:txBody>
      </p:sp>
      <p:sp>
        <p:nvSpPr>
          <p:cNvPr id="15" name="Files row 4 tile"/>
          <p:cNvSpPr/>
          <p:nvPr/>
        </p:nvSpPr>
        <p:spPr>
          <a:xfrm>
            <a:off x="548640" y="483717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7F4F1"/>
          </a:solidFill>
          <a:ln/>
        </p:spPr>
      </p:sp>
      <p:pic>
        <p:nvPicPr>
          <p:cNvPr id="16" name="Files row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4973239"/>
            <a:ext cx="294803" cy="29480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481888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Лише попередній перегляд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514807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Модуль не пише й не видаляє — чужу теку не зіпсувати</a:t>
            </a:r>
            <a:endParaRPr lang="en-US" sz="1400" dirty="0"/>
          </a:p>
        </p:txBody>
      </p:sp>
      <p:pic>
        <p:nvPicPr>
          <p:cNvPr id="19" name="Files terminal" descr="Термінал: план сортування теки та знайдені дублікати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7758" y="1280160"/>
            <a:ext cx="5289483" cy="4983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Зовнішні сервіси: погода й курси НБУ</a:t>
            </a:r>
            <a:endParaRPr lang="en-US" sz="3400" dirty="0"/>
          </a:p>
        </p:txBody>
      </p:sp>
      <p:sp>
        <p:nvSpPr>
          <p:cNvPr id="3" name="API card 1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4" name="API 1 tile"/>
          <p:cNvSpPr/>
          <p:nvPr/>
        </p:nvSpPr>
        <p:spPr>
          <a:xfrm>
            <a:off x="822960" y="18288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D7F4F1"/>
          </a:solidFill>
          <a:ln/>
        </p:spPr>
      </p:sp>
      <p:pic>
        <p:nvPicPr>
          <p:cNvPr id="5" name="API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9824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901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Погода · Open-Meteo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Пошук міста за назвою, температура, вологість і вітер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pa&gt;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 Київ</a:t>
            </a:r>
            <a:endParaRPr lang="en-US" sz="1400" dirty="0"/>
          </a:p>
        </p:txBody>
      </p:sp>
      <p:sp>
        <p:nvSpPr>
          <p:cNvPr id="9" name="API card 2"/>
          <p:cNvSpPr/>
          <p:nvPr/>
        </p:nvSpPr>
        <p:spPr>
          <a:xfrm>
            <a:off x="548640" y="3794760"/>
            <a:ext cx="539496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0" name="API 2 tile"/>
          <p:cNvSpPr/>
          <p:nvPr/>
        </p:nvSpPr>
        <p:spPr>
          <a:xfrm>
            <a:off x="822960" y="40690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D7F4F1"/>
          </a:solidFill>
          <a:ln/>
        </p:spPr>
      </p:sp>
      <p:pic>
        <p:nvPicPr>
          <p:cNvPr id="11" name="API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" y="42226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45920" y="41422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Курси валют · НБУ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8463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rates, rate, convert; валюта кодом або словом: долар, євро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5349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pa&gt;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 1000 грн в €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8521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Ключі API не потрібні. Курси кешуються на час сесії; збій мережі — зрозуміле повідомлення, а не падіння.</a:t>
            </a:r>
            <a:endParaRPr lang="en-US" sz="1100" dirty="0"/>
          </a:p>
        </p:txBody>
      </p:sp>
      <p:pic>
        <p:nvPicPr>
          <p:cNvPr id="16" name="Rates terminal" descr="Термінал: курси НБУ та конвертація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231" y="1234440"/>
            <a:ext cx="4579219" cy="5029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58000" y="6035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Значення курсів на ілюстрації — приклад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Інтерфейс, який підказує</a:t>
            </a:r>
            <a:endParaRPr lang="en-US" sz="3400" dirty="0"/>
          </a:p>
        </p:txBody>
      </p:sp>
      <p:pic>
        <p:nvPicPr>
          <p:cNvPr id="3" name="UX terminal" descr="Термінал: підказка при помилці, автодоповнення імені контакту, нижній рядо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46322"/>
            <a:ext cx="10515600" cy="3405236"/>
          </a:xfrm>
          <a:prstGeom prst="rect">
            <a:avLst/>
          </a:prstGeom>
        </p:spPr>
      </p:pic>
      <p:sp>
        <p:nvSpPr>
          <p:cNvPr id="4" name="UX row 1 tile"/>
          <p:cNvSpPr/>
          <p:nvPr/>
        </p:nvSpPr>
        <p:spPr>
          <a:xfrm>
            <a:off x="548640" y="4937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7F4F1"/>
          </a:solidFill>
          <a:ln/>
        </p:spPr>
      </p:sp>
      <p:pic>
        <p:nvPicPr>
          <p:cNvPr id="5" name="UX row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5073823"/>
            <a:ext cx="294803" cy="29480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49194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Tab доповнює все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1325880" y="52486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Команди, імена контактів, теги, статуси, шляхи — з лапками</a:t>
            </a:r>
            <a:endParaRPr lang="en-US" sz="1400" dirty="0"/>
          </a:p>
        </p:txBody>
      </p:sp>
      <p:sp>
        <p:nvSpPr>
          <p:cNvPr id="8" name="UX row 2 tile"/>
          <p:cNvSpPr/>
          <p:nvPr/>
        </p:nvSpPr>
        <p:spPr>
          <a:xfrm>
            <a:off x="4297680" y="4937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7F4F1"/>
          </a:solidFill>
          <a:ln/>
        </p:spPr>
      </p:sp>
      <p:pic>
        <p:nvPicPr>
          <p:cNvPr id="9" name="UX row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743" y="5073823"/>
            <a:ext cx="294803" cy="29480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074920" y="49194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Виправлення помилок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5074920" y="52486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shw contact → «Можливо, ви мали на увазі: show contact?»</a:t>
            </a:r>
            <a:endParaRPr lang="en-US" sz="1400" dirty="0"/>
          </a:p>
        </p:txBody>
      </p:sp>
      <p:sp>
        <p:nvSpPr>
          <p:cNvPr id="12" name="UX row 3 tile"/>
          <p:cNvSpPr/>
          <p:nvPr/>
        </p:nvSpPr>
        <p:spPr>
          <a:xfrm>
            <a:off x="8046720" y="4937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7F4F1"/>
          </a:solidFill>
          <a:ln/>
        </p:spPr>
      </p:sp>
      <p:pic>
        <p:nvPicPr>
          <p:cNvPr id="13" name="UX row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2783" y="5073823"/>
            <a:ext cx="294803" cy="29480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823960" y="49194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Нижній рядок-підказка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8823960" y="52486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Сигнатура команди і який аргумент вводиться зараз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Якість: 640 автотестів</a:t>
            </a:r>
            <a:endParaRPr lang="en-US" sz="3400" dirty="0"/>
          </a:p>
        </p:txBody>
      </p:sp>
      <p:graphicFrame>
        <p:nvGraphicFramePr>
          <p:cNvPr id="3" name="Tests chart" descr=""/>
          <p:cNvGraphicFramePr/>
          <p:nvPr/>
        </p:nvGraphicFramePr>
        <p:xfrm>
          <a:off x="548640" y="1371600"/>
          <a:ext cx="694944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Quality card 1"/>
          <p:cNvSpPr/>
          <p:nvPr/>
        </p:nvSpPr>
        <p:spPr>
          <a:xfrm>
            <a:off x="7863840" y="1508760"/>
            <a:ext cx="374904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/>
        </p:spPr>
      </p:sp>
      <p:pic>
        <p:nvPicPr>
          <p:cNvPr id="5" name="Quality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78308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823960" y="17099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pytest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8823960" y="20574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6D8"/>
                </a:solidFill>
              </a:rPr>
              <a:t>Кожна команда тестується через dispatch — як її викликав би користувач</a:t>
            </a:r>
            <a:endParaRPr lang="en-US" sz="1300" dirty="0"/>
          </a:p>
        </p:txBody>
      </p:sp>
      <p:sp>
        <p:nvSpPr>
          <p:cNvPr id="8" name="Quality card 2"/>
          <p:cNvSpPr/>
          <p:nvPr/>
        </p:nvSpPr>
        <p:spPr>
          <a:xfrm>
            <a:off x="7863840" y="3063240"/>
            <a:ext cx="374904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/>
        </p:spPr>
      </p:sp>
      <p:pic>
        <p:nvPicPr>
          <p:cNvPr id="9" name="Quality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333756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823960" y="32644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Без мережі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8823960" y="36118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6D8"/>
                </a:solidFill>
              </a:rPr>
              <a:t>API НБУ та погоди підміняються фейковими даними</a:t>
            </a:r>
            <a:endParaRPr lang="en-US" sz="1300" dirty="0"/>
          </a:p>
        </p:txBody>
      </p:sp>
      <p:sp>
        <p:nvSpPr>
          <p:cNvPr id="12" name="Quality card 3"/>
          <p:cNvSpPr/>
          <p:nvPr/>
        </p:nvSpPr>
        <p:spPr>
          <a:xfrm>
            <a:off x="7863840" y="4617720"/>
            <a:ext cx="374904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/>
        </p:spPr>
      </p:sp>
      <p:pic>
        <p:nvPicPr>
          <p:cNvPr id="13" name="Quality 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489204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823960" y="481888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ruff + mypy --strict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8823960" y="5166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6D8"/>
                </a:solidFill>
              </a:rPr>
              <a:t>Єдиний стиль і повна типізація коду в src/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Підсумки та подальший розвиток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ЩО ЗРОБЛЕНО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ЩО ДАЛІ</a:t>
            </a:r>
            <a:endParaRPr lang="en-US" sz="1400" dirty="0"/>
          </a:p>
        </p:txBody>
      </p:sp>
      <p:sp>
        <p:nvSpPr>
          <p:cNvPr id="5" name="Closing Робочий помічник на 52 команди tile"/>
          <p:cNvSpPr/>
          <p:nvPr/>
        </p:nvSpPr>
        <p:spPr>
          <a:xfrm>
            <a:off x="548640" y="2148840"/>
            <a:ext cx="64008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</p:sp>
      <p:pic>
        <p:nvPicPr>
          <p:cNvPr id="6" name="Closing Робочий помічник на 52 команди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23024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1305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Робочий помічник на 52 команди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4963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6D8"/>
                </a:solidFill>
              </a:rPr>
              <a:t>Контакти, нотатки, задачі, файли, погода, курси</a:t>
            </a:r>
            <a:endParaRPr lang="en-US" sz="1400" dirty="0"/>
          </a:p>
        </p:txBody>
      </p:sp>
      <p:sp>
        <p:nvSpPr>
          <p:cNvPr id="9" name="Closing Модульна архітектура tile"/>
          <p:cNvSpPr/>
          <p:nvPr/>
        </p:nvSpPr>
        <p:spPr>
          <a:xfrm>
            <a:off x="548640" y="3474720"/>
            <a:ext cx="64008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</p:sp>
      <p:pic>
        <p:nvPicPr>
          <p:cNvPr id="10" name="Closing Модульна архітектура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36283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345643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Модульна архітектура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38221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6D8"/>
                </a:solidFill>
              </a:rPr>
              <a:t>Нова фіча — окрема тека й один рядок реєстрації</a:t>
            </a:r>
            <a:endParaRPr lang="en-US" sz="1400" dirty="0"/>
          </a:p>
        </p:txBody>
      </p:sp>
      <p:sp>
        <p:nvSpPr>
          <p:cNvPr id="13" name="Closing Надійність tile"/>
          <p:cNvSpPr/>
          <p:nvPr/>
        </p:nvSpPr>
        <p:spPr>
          <a:xfrm>
            <a:off x="548640" y="4800600"/>
            <a:ext cx="64008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</p:sp>
      <p:pic>
        <p:nvPicPr>
          <p:cNvPr id="14" name="Closing Надійність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95421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478231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Надійність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1417320" y="51480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6D8"/>
                </a:solidFill>
              </a:rPr>
              <a:t>640 тестів, строга типізація, зрозумілі помилки</a:t>
            </a:r>
            <a:endParaRPr lang="en-US" sz="1400" dirty="0"/>
          </a:p>
        </p:txBody>
      </p:sp>
      <p:sp>
        <p:nvSpPr>
          <p:cNvPr id="17" name="Closing AI-функції tile"/>
          <p:cNvSpPr/>
          <p:nvPr/>
        </p:nvSpPr>
        <p:spPr>
          <a:xfrm>
            <a:off x="6400800" y="2148840"/>
            <a:ext cx="64008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</p:sp>
      <p:pic>
        <p:nvPicPr>
          <p:cNvPr id="18" name="Closing AI-функції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419" y="2302459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69480" y="21305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AI-функції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7269480" y="24963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6D8"/>
                </a:solidFill>
              </a:rPr>
              <a:t>Автотеги та стислий зміст нотаток через Claude API</a:t>
            </a:r>
            <a:endParaRPr lang="en-US" sz="1400" dirty="0"/>
          </a:p>
        </p:txBody>
      </p:sp>
      <p:sp>
        <p:nvSpPr>
          <p:cNvPr id="21" name="Closing Застосування планів tile"/>
          <p:cNvSpPr/>
          <p:nvPr/>
        </p:nvSpPr>
        <p:spPr>
          <a:xfrm>
            <a:off x="6400800" y="3474720"/>
            <a:ext cx="64008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</p:sp>
      <p:pic>
        <p:nvPicPr>
          <p:cNvPr id="22" name="Closing Застосування планів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4419" y="3628339"/>
            <a:ext cx="332842" cy="33284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269480" y="345643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Застосування планів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7269480" y="38221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6D8"/>
                </a:solidFill>
              </a:rPr>
              <a:t>Справжнє сортування файлів після підтвердження</a:t>
            </a:r>
            <a:endParaRPr lang="en-US" sz="1400" dirty="0"/>
          </a:p>
        </p:txBody>
      </p:sp>
      <p:sp>
        <p:nvSpPr>
          <p:cNvPr id="25" name="Closing Більше сервісів tile"/>
          <p:cNvSpPr/>
          <p:nvPr/>
        </p:nvSpPr>
        <p:spPr>
          <a:xfrm>
            <a:off x="6400800" y="4800600"/>
            <a:ext cx="64008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</p:sp>
      <p:pic>
        <p:nvPicPr>
          <p:cNvPr id="26" name="Closing Більше сервісів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4419" y="4954219"/>
            <a:ext cx="332842" cy="33284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269480" y="478231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Більше сервісів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7269480" y="51480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6D8"/>
                </a:solidFill>
              </a:rPr>
              <a:t>Прогноз погоди на кілька днів, історія курсів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Дякуємо за увагу!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 Assistant">
  <a:themeElements>
    <a:clrScheme name="Personal Assistant">
      <a:dk1>
        <a:srgbClr val="0E1726"/>
      </a:dk1>
      <a:lt1>
        <a:srgbClr val="FFFFFF"/>
      </a:lt1>
      <a:dk2>
        <a:srgbClr val="1F2E45"/>
      </a:dk2>
      <a:lt2>
        <a:srgbClr val="EEF3F8"/>
      </a:lt2>
      <a:accent1>
        <a:srgbClr val="2EC4B6"/>
      </a:accent1>
      <a:accent2>
        <a:srgbClr val="FFB703"/>
      </a:accent2>
      <a:accent3>
        <a:srgbClr val="F25F5C"/>
      </a:accent3>
      <a:accent4>
        <a:srgbClr val="5B8DEF"/>
      </a:accent4>
      <a:accent5>
        <a:srgbClr val="0E7C72"/>
      </a:accent5>
      <a:accent6>
        <a:srgbClr val="5D6E88"/>
      </a:accent6>
      <a:hlink>
        <a:srgbClr val="0E7C72"/>
      </a:hlink>
      <a:folHlink>
        <a:srgbClr val="5D6E88"/>
      </a:folHlink>
    </a:clrScheme>
    <a:fontScheme name="Personal Assista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Персональний помічник — курсовий проєкт</dc:title>
  <dc:subject>PptxGenJS Presentation</dc:subject>
  <dc:creator>PptxGenJS</dc:creator>
  <cp:lastModifiedBy>PptxGenJS</cp:lastModifiedBy>
  <cp:revision>1</cp:revision>
  <dcterms:created xsi:type="dcterms:W3CDTF">2026-10-28T13:50:58Z</dcterms:created>
  <dcterms:modified xsi:type="dcterms:W3CDTF">2026-10-28T13:50:58Z</dcterms:modified>
</cp:coreProperties>
</file>